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9" r:id="rId6"/>
    <p:sldId id="262" r:id="rId7"/>
    <p:sldId id="268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E7EAED"/>
    <a:srgbClr val="CCD2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9C88B-43CB-465C-AC07-4A1603544EEF}" type="datetimeFigureOut">
              <a:rPr lang="it-IT" smtClean="0"/>
              <a:t>11/10/2026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1C620-DCB2-4456-9B03-8F7C6D4EB44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8411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C41C7F-338D-4B3C-8E37-C9901F0029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9B686E1-F646-1DC7-5AAA-2CAA233AD4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2AE5A95-FB04-B0C7-CF3A-BD4C67F5E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8B29D-1AA2-4955-B4ED-3C2E8AB5E7B7}" type="datetime1">
              <a:rPr lang="it-IT" smtClean="0"/>
              <a:t>11/10/2026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1AAE79-313B-2440-4575-3A19564DC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BD87061-33E9-A005-AAE0-BFF1383E3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F2E17-486B-469A-8A18-48E5804D6F3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22949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3F48AE-385D-0DCB-5574-DC74245FB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78EBFF6-2F75-A120-B070-D59D78AF0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24D2D2B-BB74-44CB-DD81-F4ACE1ED7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00E7-A727-43FD-805E-9224E6BDAC3D}" type="datetime1">
              <a:rPr lang="it-IT" smtClean="0"/>
              <a:t>11/10/2026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7CC2403-9CD0-4CFB-9B66-6628748AC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E1436E9-87BD-8512-0883-8E64C32E3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F2E17-486B-469A-8A18-48E5804D6F3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09804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128EAA-464A-8C92-A949-610D6F083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BAB223D-F2A1-0B47-D049-91E989121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5E89583-1426-D5F2-65CB-F03AC0F4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C4067-742A-42A1-8FF7-649EBE7507D9}" type="datetime1">
              <a:rPr lang="it-IT" smtClean="0"/>
              <a:t>11/10/2026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73887C4-EDAA-0353-4B64-4E832C382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A717561-6825-40ED-FBAC-85B66AE25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F2E17-486B-469A-8A18-48E5804D6F3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8615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86EB09-1E1D-97EE-F54E-48DE3AC71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91CAD99-754A-9AA2-A155-6D70EA8F40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420C03F-7523-1EC1-DCD0-87DDF89161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6089F29-C2E6-A328-4296-1B05162F8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F8174-8BD3-4C8F-B89C-BBC56B3549A3}" type="datetime1">
              <a:rPr lang="it-IT" smtClean="0"/>
              <a:t>11/10/2026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CCDAA22-3393-8343-DF3A-18FC43636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B8791B1-C60E-C5D4-8064-5E8E8B3F8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F2E17-486B-469A-8A18-48E5804D6F3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171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914EBF-1681-A242-F06E-DF4627B1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11173BC-2A31-54D0-A6E2-8D2D154AC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A0D137F-6C1F-E601-C46C-C76935ECEE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DA598CF-4B2A-BB92-6705-A89C5D3BC0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E4D0017-2E6A-196B-BE93-DD0C1BCD93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47F7612-6E6C-1ECF-A09F-693B54FFF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2EF37-6EB9-49E1-90A9-32373D7F613F}" type="datetime1">
              <a:rPr lang="it-IT" smtClean="0"/>
              <a:t>11/10/2026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7EA7C5E-1BFE-9647-9E96-1CCDB21A5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DB7E109-91AE-AF3D-3A20-58AB8F777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F2E17-486B-469A-8A18-48E5804D6F3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0603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F4DCE0-B0B5-CCB5-829B-3502F9860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118443F-25C4-706F-EF74-572D5E693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857E-7037-42F5-A0E6-F1969B575D7B}" type="datetime1">
              <a:rPr lang="it-IT" smtClean="0"/>
              <a:t>11/10/2026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8D6ABAD-AA6B-FD6D-CC55-B78977B78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842495E-C7B8-9591-0966-C6D9AED2F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F2E17-486B-469A-8A18-48E5804D6F3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5233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68FC440-4E1D-45AF-3E52-ED49E7758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F5AFB-FDAE-4C9F-B46D-E5D396222373}" type="datetime1">
              <a:rPr lang="it-IT" smtClean="0"/>
              <a:t>11/10/2026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E25677B-B490-7FBC-F074-187EC9F01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43D2704-536F-C412-54B2-3C78EC518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F2E17-486B-469A-8A18-48E5804D6F3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7711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94397B-94E8-158E-E17E-087889371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C9B1794-F94F-8733-52A6-19A766A45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1AA1CC7-1BA5-FA1E-4F28-17F1116B56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8371D07-0626-289E-653D-75E92810B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E922E-C5D3-4048-ACF7-E68149FEBE18}" type="datetime1">
              <a:rPr lang="it-IT" smtClean="0"/>
              <a:t>11/10/2026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17C152D-EBE7-A929-668A-E41866AC3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E39FE13-9604-46A4-B5B0-075C5C95B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F2E17-486B-469A-8A18-48E5804D6F3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2345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9CD299-0E26-D24C-F85F-97E0C5D3D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F3D85CB7-801F-4BCC-4B48-67AE867BDC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0626B2F-DA6E-B19B-B69A-84960485C9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F76215F-CBB2-75EB-CBE0-E29AB169C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285D8-E0DE-4CB7-82BB-0755DF6B59D1}" type="datetime1">
              <a:rPr lang="it-IT" smtClean="0"/>
              <a:t>11/10/2026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89C48FB-1E32-0655-F118-7D79ADEF0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B885A80-AC88-634A-1DB6-E50DDFCC8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F2E17-486B-469A-8A18-48E5804D6F3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1432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02667A-44DC-9E85-1E84-9BF694596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622A552-9FEF-332F-DA6C-378AB9E955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81456E9-4D8E-00DB-5F1B-DB80E9272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CACE1-107B-4423-92E6-9CBAEDFF39D7}" type="datetime1">
              <a:rPr lang="it-IT" smtClean="0"/>
              <a:t>11/10/2026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A4ADC34-1D0B-8336-A48B-9445E69E2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C6CFF9E-0587-E9FD-8D77-0EF054D3E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F2E17-486B-469A-8A18-48E5804D6F3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7213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8EB8C9D-36A9-A0F2-8032-9533E0D143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36353B4-6C8D-EB86-9B9F-C6D074A29C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9E777EF-93FD-BBF1-0B4F-3521D51A6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10862-D03A-40AF-9459-483BB5FF88A0}" type="datetime1">
              <a:rPr lang="it-IT" smtClean="0"/>
              <a:t>11/10/2026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91ED962-34B8-B0B1-938F-A1D158736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434237E-4F3F-61DC-D6C8-22319A3B1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F2E17-486B-469A-8A18-48E5804D6F3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58101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2F8CB37-2926-EB48-776F-ACE9B5CDB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4BF0106-2747-E1C9-824A-F8A1242C5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4D81028-6D9E-0631-A374-5C00FDBFF0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C2A574-841A-40BA-ACD5-BD495618AB66}" type="datetime1">
              <a:rPr lang="it-IT" smtClean="0"/>
              <a:t>11/10/2026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2E5AA53-3E47-4966-1E9E-3F0B942C7D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F9EC48C-B78C-4C0E-D92E-C891C799F5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2F2E17-486B-469A-8A18-48E5804D6F3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0000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DB0C307F-26FB-6D39-4F9A-D283872463F0}"/>
              </a:ext>
            </a:extLst>
          </p:cNvPr>
          <p:cNvSpPr/>
          <p:nvPr/>
        </p:nvSpPr>
        <p:spPr>
          <a:xfrm>
            <a:off x="5560626" y="3048000"/>
            <a:ext cx="1591290" cy="10776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it-IT" b="1" dirty="0"/>
              <a:t>DUT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45DCC7E-6337-37C6-1909-34D80CB80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Descrizione del Sistema - Errore relativo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7413FA45-23C8-575B-A124-D6AAAD1B296E}"/>
                  </a:ext>
                </a:extLst>
              </p:cNvPr>
              <p:cNvSpPr txBox="1"/>
              <p:nvPr/>
            </p:nvSpPr>
            <p:spPr>
              <a:xfrm>
                <a:off x="1370017" y="1730591"/>
                <a:ext cx="94519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Un Sensore (S) presenta un errore relativo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%</m:t>
                        </m:r>
                      </m:sub>
                    </m:sSub>
                  </m:oMath>
                </a14:m>
                <a:r>
                  <a:rPr lang="it-IT" dirty="0"/>
                  <a:t>) che può essere minimizzato tramite taratura:</a:t>
                </a:r>
              </a:p>
            </p:txBody>
          </p:sp>
        </mc:Choice>
        <mc:Fallback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7413FA45-23C8-575B-A124-D6AAAD1B2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0017" y="1730591"/>
                <a:ext cx="9451965" cy="369332"/>
              </a:xfrm>
              <a:prstGeom prst="rect">
                <a:avLst/>
              </a:prstGeom>
              <a:blipFill>
                <a:blip r:embed="rId2"/>
                <a:stretch>
                  <a:fillRect l="-581" t="-8333" b="-2833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tangolo 4">
            <a:extLst>
              <a:ext uri="{FF2B5EF4-FFF2-40B4-BE49-F238E27FC236}">
                <a16:creationId xmlns:a16="http://schemas.microsoft.com/office/drawing/2014/main" id="{8EBDFBCB-80E2-EB01-5995-E66A3E84D43F}"/>
              </a:ext>
            </a:extLst>
          </p:cNvPr>
          <p:cNvSpPr/>
          <p:nvPr/>
        </p:nvSpPr>
        <p:spPr>
          <a:xfrm>
            <a:off x="6183087" y="3265714"/>
            <a:ext cx="794657" cy="64225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/>
              <a:t>S</a:t>
            </a:r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50634EE5-06E7-A372-65F8-287AE8E5D8BB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5225143" y="3586843"/>
            <a:ext cx="3354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91031558-84CB-437B-87B7-347E4509D778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7151916" y="3586843"/>
            <a:ext cx="4027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A50F3307-3DAF-923C-7480-365B1C27FD22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6580416" y="3907971"/>
            <a:ext cx="0" cy="6422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D486CC50-957D-D80A-3555-6E205400075E}"/>
              </a:ext>
            </a:extLst>
          </p:cNvPr>
          <p:cNvSpPr txBox="1"/>
          <p:nvPr/>
        </p:nvSpPr>
        <p:spPr>
          <a:xfrm>
            <a:off x="4658836" y="3402176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In,2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7F34C9A5-748A-1937-4DD8-87274E87560B}"/>
              </a:ext>
            </a:extLst>
          </p:cNvPr>
          <p:cNvSpPr txBox="1"/>
          <p:nvPr/>
        </p:nvSpPr>
        <p:spPr>
          <a:xfrm>
            <a:off x="7608864" y="3402176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Out,2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76C670AD-63BA-1687-A195-B4E50465D11F}"/>
              </a:ext>
            </a:extLst>
          </p:cNvPr>
          <p:cNvSpPr txBox="1"/>
          <p:nvPr/>
        </p:nvSpPr>
        <p:spPr>
          <a:xfrm>
            <a:off x="6580415" y="4229099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C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F1C1FE86-05F6-8F23-5FCC-CB653C34942A}"/>
              </a:ext>
            </a:extLst>
          </p:cNvPr>
          <p:cNvSpPr/>
          <p:nvPr/>
        </p:nvSpPr>
        <p:spPr>
          <a:xfrm>
            <a:off x="1478977" y="3048000"/>
            <a:ext cx="1591290" cy="10776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/>
              <a:t>Golden Sample</a:t>
            </a:r>
          </a:p>
          <a:p>
            <a:pPr algn="ctr"/>
            <a:r>
              <a:rPr lang="it-IT" b="1" dirty="0"/>
              <a:t>(Riferimento)</a:t>
            </a:r>
          </a:p>
        </p:txBody>
      </p: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398B8D23-318E-FF94-C200-178F9DDAA93C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1143494" y="3586843"/>
            <a:ext cx="3354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DB40C7F4-2502-D2E4-5A47-33C58F813346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3070267" y="3586843"/>
            <a:ext cx="4027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4DA8C802-0200-BEC2-CB89-0C1F338B7BE4}"/>
              </a:ext>
            </a:extLst>
          </p:cNvPr>
          <p:cNvSpPr txBox="1"/>
          <p:nvPr/>
        </p:nvSpPr>
        <p:spPr>
          <a:xfrm>
            <a:off x="599207" y="3402176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In,1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E70B3858-BAF1-D05A-A4E8-9C9EAE529C51}"/>
              </a:ext>
            </a:extLst>
          </p:cNvPr>
          <p:cNvSpPr txBox="1"/>
          <p:nvPr/>
        </p:nvSpPr>
        <p:spPr>
          <a:xfrm>
            <a:off x="3417677" y="3402176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Out,1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asellaDiTesto 32">
                <a:extLst>
                  <a:ext uri="{FF2B5EF4-FFF2-40B4-BE49-F238E27FC236}">
                    <a16:creationId xmlns:a16="http://schemas.microsoft.com/office/drawing/2014/main" id="{7BA0E5A4-BFAA-611E-355E-D2A54FBBB541}"/>
                  </a:ext>
                </a:extLst>
              </p:cNvPr>
              <p:cNvSpPr txBox="1"/>
              <p:nvPr/>
            </p:nvSpPr>
            <p:spPr>
              <a:xfrm>
                <a:off x="8985623" y="3311991"/>
                <a:ext cx="2568267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%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𝑂𝑢𝑡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num>
                            <m:den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𝑂𝑢𝑡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den>
                          </m:f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∗100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3" name="CasellaDiTesto 32">
                <a:extLst>
                  <a:ext uri="{FF2B5EF4-FFF2-40B4-BE49-F238E27FC236}">
                    <a16:creationId xmlns:a16="http://schemas.microsoft.com/office/drawing/2014/main" id="{7BA0E5A4-BFAA-611E-355E-D2A54FBBB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5623" y="3311991"/>
                <a:ext cx="2568267" cy="6223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BBD82F2F-4D26-9674-FE39-AD10C3CED5ED}"/>
              </a:ext>
            </a:extLst>
          </p:cNvPr>
          <p:cNvSpPr txBox="1"/>
          <p:nvPr/>
        </p:nvSpPr>
        <p:spPr>
          <a:xfrm>
            <a:off x="3463249" y="5058608"/>
            <a:ext cx="62343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L’operazione di taratura richiede almeno 3 fasi:</a:t>
            </a:r>
          </a:p>
          <a:p>
            <a:pPr marL="800100" lvl="1" indent="-342900">
              <a:buFont typeface="+mj-lt"/>
              <a:buAutoNum type="arabicParenR"/>
            </a:pPr>
            <a:r>
              <a:rPr lang="it-IT" dirty="0"/>
              <a:t>Una prima misura per calcolare l’errore</a:t>
            </a:r>
          </a:p>
          <a:p>
            <a:pPr marL="800100" lvl="1" indent="-342900">
              <a:buFont typeface="+mj-lt"/>
              <a:buAutoNum type="arabicParenR"/>
            </a:pPr>
            <a:r>
              <a:rPr lang="it-IT" dirty="0"/>
              <a:t>L’analisi dei dati e l’introduzione della correzione (C) </a:t>
            </a:r>
          </a:p>
          <a:p>
            <a:pPr marL="800100" lvl="1" indent="-342900">
              <a:buFont typeface="+mj-lt"/>
              <a:buAutoNum type="arabicParenR"/>
            </a:pPr>
            <a:r>
              <a:rPr lang="it-IT" dirty="0"/>
              <a:t>Una seconda misura per verificare l’errore  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43F89F-46D9-0BB6-F48B-BBE7BD0F2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50382" y="6492875"/>
            <a:ext cx="2743200" cy="365125"/>
          </a:xfrm>
        </p:spPr>
        <p:txBody>
          <a:bodyPr/>
          <a:lstStyle/>
          <a:p>
            <a:fld id="{D52F2E17-486B-469A-8A18-48E5804D6F3A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4960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4D601-8E6D-03B4-58EC-F00355A8A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55D3FD-2AE5-975A-25B6-C00423941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Descrizione del Sistema – Range di misura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CD11D40-FB20-9833-6B7A-00AB8A1AF4CF}"/>
              </a:ext>
            </a:extLst>
          </p:cNvPr>
          <p:cNvSpPr txBox="1"/>
          <p:nvPr/>
        </p:nvSpPr>
        <p:spPr>
          <a:xfrm>
            <a:off x="987553" y="1437435"/>
            <a:ext cx="9409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 valutazione dell’errore e la calibrazione idealmente deve essere effettuata su tutto il range di misura, nella realtà la si esegue su un numero discreto di valori che nel nostro caso viene fissato in 9: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73C918C-AF99-5C12-C7B7-74BF92374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50380" y="6492875"/>
            <a:ext cx="2743200" cy="365125"/>
          </a:xfrm>
        </p:spPr>
        <p:txBody>
          <a:bodyPr/>
          <a:lstStyle/>
          <a:p>
            <a:fld id="{D52F2E17-486B-469A-8A18-48E5804D6F3A}" type="slidenum">
              <a:rPr lang="it-IT" smtClean="0"/>
              <a:t>2</a:t>
            </a:fld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ella 6">
                <a:extLst>
                  <a:ext uri="{FF2B5EF4-FFF2-40B4-BE49-F238E27FC236}">
                    <a16:creationId xmlns:a16="http://schemas.microsoft.com/office/drawing/2014/main" id="{B3AD35FC-F933-1D20-0D62-2D8EE7CA66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2873638"/>
                  </p:ext>
                </p:extLst>
              </p:nvPr>
            </p:nvGraphicFramePr>
            <p:xfrm>
              <a:off x="2410174" y="2435460"/>
              <a:ext cx="7371651" cy="4348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160">
                      <a:extLst>
                        <a:ext uri="{9D8B030D-6E8A-4147-A177-3AD203B41FA5}">
                          <a16:colId xmlns:a16="http://schemas.microsoft.com/office/drawing/2014/main" val="3344666190"/>
                        </a:ext>
                      </a:extLst>
                    </a:gridCol>
                    <a:gridCol w="1054120">
                      <a:extLst>
                        <a:ext uri="{9D8B030D-6E8A-4147-A177-3AD203B41FA5}">
                          <a16:colId xmlns:a16="http://schemas.microsoft.com/office/drawing/2014/main" val="3110726661"/>
                        </a:ext>
                      </a:extLst>
                    </a:gridCol>
                    <a:gridCol w="970598">
                      <a:extLst>
                        <a:ext uri="{9D8B030D-6E8A-4147-A177-3AD203B41FA5}">
                          <a16:colId xmlns:a16="http://schemas.microsoft.com/office/drawing/2014/main" val="1422332611"/>
                        </a:ext>
                      </a:extLst>
                    </a:gridCol>
                    <a:gridCol w="1102952">
                      <a:extLst>
                        <a:ext uri="{9D8B030D-6E8A-4147-A177-3AD203B41FA5}">
                          <a16:colId xmlns:a16="http://schemas.microsoft.com/office/drawing/2014/main" val="955611825"/>
                        </a:ext>
                      </a:extLst>
                    </a:gridCol>
                    <a:gridCol w="882363">
                      <a:extLst>
                        <a:ext uri="{9D8B030D-6E8A-4147-A177-3AD203B41FA5}">
                          <a16:colId xmlns:a16="http://schemas.microsoft.com/office/drawing/2014/main" val="1730298313"/>
                        </a:ext>
                      </a:extLst>
                    </a:gridCol>
                    <a:gridCol w="980486">
                      <a:extLst>
                        <a:ext uri="{9D8B030D-6E8A-4147-A177-3AD203B41FA5}">
                          <a16:colId xmlns:a16="http://schemas.microsoft.com/office/drawing/2014/main" val="565712884"/>
                        </a:ext>
                      </a:extLst>
                    </a:gridCol>
                    <a:gridCol w="763107">
                      <a:extLst>
                        <a:ext uri="{9D8B030D-6E8A-4147-A177-3AD203B41FA5}">
                          <a16:colId xmlns:a16="http://schemas.microsoft.com/office/drawing/2014/main" val="1953623605"/>
                        </a:ext>
                      </a:extLst>
                    </a:gridCol>
                    <a:gridCol w="1197865">
                      <a:extLst>
                        <a:ext uri="{9D8B030D-6E8A-4147-A177-3AD203B41FA5}">
                          <a16:colId xmlns:a16="http://schemas.microsoft.com/office/drawing/2014/main" val="33674600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ID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Test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Out,1 [Rif.]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Out,2</a:t>
                          </a:r>
                        </a:p>
                        <a:p>
                          <a:pPr algn="ctr"/>
                          <a:r>
                            <a:rPr lang="it-IT" dirty="0"/>
                            <a:t>[DUT]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Font typeface="Arial" panose="020B0604020202020204" pitchFamily="34" charset="0"/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%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Font typeface="Arial" panose="020B0604020202020204" pitchFamily="34" charset="0"/>
                            <a:buNone/>
                          </a:pPr>
                          <a:r>
                            <a:rPr lang="it-IT" dirty="0"/>
                            <a:t>∆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Font typeface="Arial" panose="020B0604020202020204" pitchFamily="34" charset="0"/>
                            <a:buNone/>
                          </a:pPr>
                          <a:endParaRPr lang="it-IT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Font typeface="Arial" panose="020B0604020202020204" pitchFamily="34" charset="0"/>
                            <a:buNone/>
                          </a:pPr>
                          <a:r>
                            <a:rPr lang="it-IT" dirty="0"/>
                            <a:t>Tempo [min]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87061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max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403,873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396,895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-1,73%</a:t>
                          </a: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-6,978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endParaRPr lang="it-IT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1,18</a:t>
                          </a: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933168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0,7*max</a:t>
                          </a: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282,416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276,658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-2,04%</a:t>
                          </a: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-5,758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endParaRPr lang="it-IT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1,67</a:t>
                          </a: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3879499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0,4*max</a:t>
                          </a: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160,892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159,083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-1,12%</a:t>
                          </a: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-1,809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endParaRPr lang="it-IT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3,00</a:t>
                          </a: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34992231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0,2*max</a:t>
                          </a: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80,769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80,354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it-IT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-0,51%</a:t>
                          </a: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-0,414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endParaRPr lang="it-IT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5,95</a:t>
                          </a: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556039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0,1*max</a:t>
                          </a: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40,339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40,153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it-IT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-0,46%</a:t>
                          </a: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-0,186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endParaRPr lang="it-IT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11,86</a:t>
                          </a: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27293218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10*min</a:t>
                          </a: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25,850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25,795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it-IT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-0,21%</a:t>
                          </a: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-0,055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endParaRPr lang="it-IT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18,52</a:t>
                          </a: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40667023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5*min</a:t>
                          </a: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12,898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12,933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it-IT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0,27%</a:t>
                          </a: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0,035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endParaRPr lang="it-IT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14,51</a:t>
                          </a: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29373158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3*min</a:t>
                          </a: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7,734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7,749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it-IT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0,20%</a:t>
                          </a: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0,015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endParaRPr lang="it-IT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24,31</a:t>
                          </a: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26635282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min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2,576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2,592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0,62%</a:t>
                          </a: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0,016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endParaRPr lang="it-IT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72,91</a:t>
                          </a: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33219698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it-IT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endParaRPr lang="it-IT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endParaRPr lang="it-IT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endParaRPr lang="it-IT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6350" marR="6350" marT="6350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endParaRPr lang="it-IT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it-IT" sz="1800" b="1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Tot.</a:t>
                          </a:r>
                        </a:p>
                      </a:txBody>
                      <a:tcPr marL="6350" marR="6350" marT="6350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it-IT" sz="1800" b="1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153,9 ~2,5h</a:t>
                          </a:r>
                        </a:p>
                      </a:txBody>
                      <a:tcPr marL="6350" marR="6350" marT="6350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42364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ella 6">
                <a:extLst>
                  <a:ext uri="{FF2B5EF4-FFF2-40B4-BE49-F238E27FC236}">
                    <a16:creationId xmlns:a16="http://schemas.microsoft.com/office/drawing/2014/main" id="{B3AD35FC-F933-1D20-0D62-2D8EE7CA66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2873638"/>
                  </p:ext>
                </p:extLst>
              </p:nvPr>
            </p:nvGraphicFramePr>
            <p:xfrm>
              <a:off x="2410174" y="2435460"/>
              <a:ext cx="7371651" cy="4348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160">
                      <a:extLst>
                        <a:ext uri="{9D8B030D-6E8A-4147-A177-3AD203B41FA5}">
                          <a16:colId xmlns:a16="http://schemas.microsoft.com/office/drawing/2014/main" val="3344666190"/>
                        </a:ext>
                      </a:extLst>
                    </a:gridCol>
                    <a:gridCol w="1054120">
                      <a:extLst>
                        <a:ext uri="{9D8B030D-6E8A-4147-A177-3AD203B41FA5}">
                          <a16:colId xmlns:a16="http://schemas.microsoft.com/office/drawing/2014/main" val="3110726661"/>
                        </a:ext>
                      </a:extLst>
                    </a:gridCol>
                    <a:gridCol w="970598">
                      <a:extLst>
                        <a:ext uri="{9D8B030D-6E8A-4147-A177-3AD203B41FA5}">
                          <a16:colId xmlns:a16="http://schemas.microsoft.com/office/drawing/2014/main" val="1422332611"/>
                        </a:ext>
                      </a:extLst>
                    </a:gridCol>
                    <a:gridCol w="1102952">
                      <a:extLst>
                        <a:ext uri="{9D8B030D-6E8A-4147-A177-3AD203B41FA5}">
                          <a16:colId xmlns:a16="http://schemas.microsoft.com/office/drawing/2014/main" val="955611825"/>
                        </a:ext>
                      </a:extLst>
                    </a:gridCol>
                    <a:gridCol w="882363">
                      <a:extLst>
                        <a:ext uri="{9D8B030D-6E8A-4147-A177-3AD203B41FA5}">
                          <a16:colId xmlns:a16="http://schemas.microsoft.com/office/drawing/2014/main" val="1730298313"/>
                        </a:ext>
                      </a:extLst>
                    </a:gridCol>
                    <a:gridCol w="980486">
                      <a:extLst>
                        <a:ext uri="{9D8B030D-6E8A-4147-A177-3AD203B41FA5}">
                          <a16:colId xmlns:a16="http://schemas.microsoft.com/office/drawing/2014/main" val="565712884"/>
                        </a:ext>
                      </a:extLst>
                    </a:gridCol>
                    <a:gridCol w="763107">
                      <a:extLst>
                        <a:ext uri="{9D8B030D-6E8A-4147-A177-3AD203B41FA5}">
                          <a16:colId xmlns:a16="http://schemas.microsoft.com/office/drawing/2014/main" val="1953623605"/>
                        </a:ext>
                      </a:extLst>
                    </a:gridCol>
                    <a:gridCol w="1197865">
                      <a:extLst>
                        <a:ext uri="{9D8B030D-6E8A-4147-A177-3AD203B41FA5}">
                          <a16:colId xmlns:a16="http://schemas.microsoft.com/office/drawing/2014/main" val="3367460048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ID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Test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Out,1 [Rif.]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Out,2</a:t>
                          </a:r>
                        </a:p>
                        <a:p>
                          <a:pPr algn="ctr"/>
                          <a:r>
                            <a:rPr lang="it-IT" dirty="0"/>
                            <a:t>[DUT]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2"/>
                          <a:stretch>
                            <a:fillRect l="-402069" t="-3810" r="-335862" b="-6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Font typeface="Arial" panose="020B0604020202020204" pitchFamily="34" charset="0"/>
                            <a:buNone/>
                          </a:pPr>
                          <a:r>
                            <a:rPr lang="it-IT" dirty="0"/>
                            <a:t>∆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Font typeface="Arial" panose="020B0604020202020204" pitchFamily="34" charset="0"/>
                            <a:buNone/>
                          </a:pPr>
                          <a:endParaRPr lang="it-IT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Font typeface="Arial" panose="020B0604020202020204" pitchFamily="34" charset="0"/>
                            <a:buNone/>
                          </a:pPr>
                          <a:r>
                            <a:rPr lang="it-IT" dirty="0"/>
                            <a:t>Tempo [min]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87061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max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403,873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396,895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-1,73%</a:t>
                          </a: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-6,978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endParaRPr lang="it-IT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1,18</a:t>
                          </a: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933168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0,7*max</a:t>
                          </a: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282,416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276,658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-2,04%</a:t>
                          </a: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-5,758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endParaRPr lang="it-IT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1,67</a:t>
                          </a: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38794997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0,4*max</a:t>
                          </a: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160,892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159,083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-1,12%</a:t>
                          </a: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-1,809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endParaRPr lang="it-IT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3,00</a:t>
                          </a: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34992231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0,2*max</a:t>
                          </a: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80,769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80,354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it-IT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-0,51%</a:t>
                          </a: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-0,414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endParaRPr lang="it-IT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5,95</a:t>
                          </a: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10556039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0,1*max</a:t>
                          </a: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40,339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40,153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it-IT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-0,46%</a:t>
                          </a: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-0,186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endParaRPr lang="it-IT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11,86</a:t>
                          </a: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27293218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10*min</a:t>
                          </a: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25,850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25,795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it-IT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-0,21%</a:t>
                          </a: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-0,055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endParaRPr lang="it-IT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18,52</a:t>
                          </a: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40667023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5*min</a:t>
                          </a: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12,898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12,933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it-IT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0,27%</a:t>
                          </a: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0,035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endParaRPr lang="it-IT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14,51</a:t>
                          </a: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29373158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3*min</a:t>
                          </a: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7,734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7,749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it-IT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0,20%</a:t>
                          </a: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0,015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endParaRPr lang="it-IT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24,31</a:t>
                          </a: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26635282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min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2,576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2,592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0,62%</a:t>
                          </a:r>
                        </a:p>
                      </a:txBody>
                      <a:tcPr marL="6350" marR="6350" marT="635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0,016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endParaRPr lang="it-IT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r>
                            <a:rPr lang="it-IT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72,91</a:t>
                          </a:r>
                        </a:p>
                      </a:txBody>
                      <a:tcPr marL="6350" marR="6350" marT="6350" marB="0" anchor="b"/>
                    </a:tc>
                    <a:extLst>
                      <a:ext uri="{0D108BD9-81ED-4DB2-BD59-A6C34878D82A}">
                        <a16:rowId xmlns:a16="http://schemas.microsoft.com/office/drawing/2014/main" val="33219698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it-IT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endParaRPr lang="it-IT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endParaRPr lang="it-IT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endParaRPr lang="it-IT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6350" marR="6350" marT="6350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>
                            <a:buNone/>
                          </a:pPr>
                          <a:endParaRPr lang="it-IT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it-IT" sz="1800" b="1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Tot.</a:t>
                          </a:r>
                        </a:p>
                      </a:txBody>
                      <a:tcPr marL="6350" marR="6350" marT="6350" marB="0" anchor="b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buNone/>
                          </a:pPr>
                          <a:r>
                            <a:rPr lang="it-IT" sz="1800" b="1" kern="1200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153,9 ~2,5h</a:t>
                          </a:r>
                        </a:p>
                      </a:txBody>
                      <a:tcPr marL="6350" marR="6350" marT="6350" marB="0" anchor="b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423644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0343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0C367-C8E6-1920-E67E-1596E09C0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32839E-9458-9C98-0230-11C65128B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Descrizione del Sistema – Ripetibilità (Info)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EB109D3-EBBB-D8D8-EE8A-9D1757E5B22D}"/>
              </a:ext>
            </a:extLst>
          </p:cNvPr>
          <p:cNvSpPr txBox="1"/>
          <p:nvPr/>
        </p:nvSpPr>
        <p:spPr>
          <a:xfrm>
            <a:off x="1012368" y="1556420"/>
            <a:ext cx="10167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 misurazione deve essere ripetibile perciò si eseguono 6 misure sullo stesso campione; si definisce ripetibilità: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FF1DFE80-48F5-0B1B-440E-117EF04FE2FA}"/>
                  </a:ext>
                </a:extLst>
              </p:cNvPr>
              <p:cNvSpPr txBox="1"/>
              <p:nvPr/>
            </p:nvSpPr>
            <p:spPr>
              <a:xfrm>
                <a:off x="3778088" y="2291636"/>
                <a:ext cx="4635821" cy="312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it-IT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RIP</m:t>
                          </m:r>
                          <m:r>
                            <a:rPr lang="it-IT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it-IT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max</m:t>
                          </m:r>
                          <m:d>
                            <m:dPr>
                              <m:ctrlPr>
                                <a:rPr lang="it-IT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%,1</m:t>
                                  </m:r>
                                </m:sub>
                              </m:s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it-IT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%,6</m:t>
                                  </m:r>
                                </m:sub>
                              </m:sSub>
                            </m:e>
                          </m:d>
                        </m:fName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 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𝑚𝑖𝑛</m:t>
                          </m:r>
                          <m:d>
                            <m:dPr>
                              <m:ctrlPr>
                                <a:rPr lang="it-IT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%,1</m:t>
                                  </m:r>
                                </m:sub>
                              </m:s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it-IT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%,6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FF1DFE80-48F5-0B1B-440E-117EF04FE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8088" y="2291636"/>
                <a:ext cx="4635821" cy="312650"/>
              </a:xfrm>
              <a:prstGeom prst="rect">
                <a:avLst/>
              </a:prstGeom>
              <a:blipFill>
                <a:blip r:embed="rId2"/>
                <a:stretch>
                  <a:fillRect l="-921" b="-1372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D4EB812F-7053-FC11-A07A-6B48D11214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518537"/>
              </p:ext>
            </p:extLst>
          </p:nvPr>
        </p:nvGraphicFramePr>
        <p:xfrm>
          <a:off x="1012368" y="2801050"/>
          <a:ext cx="1016726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726">
                  <a:extLst>
                    <a:ext uri="{9D8B030D-6E8A-4147-A177-3AD203B41FA5}">
                      <a16:colId xmlns:a16="http://schemas.microsoft.com/office/drawing/2014/main" val="1999852280"/>
                    </a:ext>
                  </a:extLst>
                </a:gridCol>
                <a:gridCol w="1079866">
                  <a:extLst>
                    <a:ext uri="{9D8B030D-6E8A-4147-A177-3AD203B41FA5}">
                      <a16:colId xmlns:a16="http://schemas.microsoft.com/office/drawing/2014/main" val="934189851"/>
                    </a:ext>
                  </a:extLst>
                </a:gridCol>
                <a:gridCol w="953586">
                  <a:extLst>
                    <a:ext uri="{9D8B030D-6E8A-4147-A177-3AD203B41FA5}">
                      <a16:colId xmlns:a16="http://schemas.microsoft.com/office/drawing/2014/main" val="126855699"/>
                    </a:ext>
                  </a:extLst>
                </a:gridCol>
                <a:gridCol w="1016726">
                  <a:extLst>
                    <a:ext uri="{9D8B030D-6E8A-4147-A177-3AD203B41FA5}">
                      <a16:colId xmlns:a16="http://schemas.microsoft.com/office/drawing/2014/main" val="3948411438"/>
                    </a:ext>
                  </a:extLst>
                </a:gridCol>
                <a:gridCol w="1016726">
                  <a:extLst>
                    <a:ext uri="{9D8B030D-6E8A-4147-A177-3AD203B41FA5}">
                      <a16:colId xmlns:a16="http://schemas.microsoft.com/office/drawing/2014/main" val="616041910"/>
                    </a:ext>
                  </a:extLst>
                </a:gridCol>
                <a:gridCol w="1016726">
                  <a:extLst>
                    <a:ext uri="{9D8B030D-6E8A-4147-A177-3AD203B41FA5}">
                      <a16:colId xmlns:a16="http://schemas.microsoft.com/office/drawing/2014/main" val="4284074124"/>
                    </a:ext>
                  </a:extLst>
                </a:gridCol>
                <a:gridCol w="1016726">
                  <a:extLst>
                    <a:ext uri="{9D8B030D-6E8A-4147-A177-3AD203B41FA5}">
                      <a16:colId xmlns:a16="http://schemas.microsoft.com/office/drawing/2014/main" val="2653291158"/>
                    </a:ext>
                  </a:extLst>
                </a:gridCol>
                <a:gridCol w="1016726">
                  <a:extLst>
                    <a:ext uri="{9D8B030D-6E8A-4147-A177-3AD203B41FA5}">
                      <a16:colId xmlns:a16="http://schemas.microsoft.com/office/drawing/2014/main" val="4120954990"/>
                    </a:ext>
                  </a:extLst>
                </a:gridCol>
                <a:gridCol w="1016726">
                  <a:extLst>
                    <a:ext uri="{9D8B030D-6E8A-4147-A177-3AD203B41FA5}">
                      <a16:colId xmlns:a16="http://schemas.microsoft.com/office/drawing/2014/main" val="511151776"/>
                    </a:ext>
                  </a:extLst>
                </a:gridCol>
                <a:gridCol w="1016726">
                  <a:extLst>
                    <a:ext uri="{9D8B030D-6E8A-4147-A177-3AD203B41FA5}">
                      <a16:colId xmlns:a16="http://schemas.microsoft.com/office/drawing/2014/main" val="10706717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M4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M5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M6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RIP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599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-1,73%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-1,93%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-1,98%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-1,90%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-2,00%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-1,95%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0,27%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30968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0,7*max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-2,04%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-2,14%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-2,23%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-2,24%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-2,19%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-2,29%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0,25%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42817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0,4*max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-1,12%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-1,35%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-1,28%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-1,48%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-1,58%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-1,66%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0,54%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69158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0,2*max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-0,51%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-0,39%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-0,22%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-0,48%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-0,56%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-0,73%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0,51%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04664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0,1*max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-0,46%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-0,35%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-0,15%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-0,45%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-0,44%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-0,60%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0,44%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3805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10*min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-0,21%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-0,26%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0,10%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-0,28%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-0,33%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-0,36%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0,46%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29641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5*min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0,27%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-0,11%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0,49%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-0,25%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0,02%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-0,28%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0,77%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05236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3*min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0,20%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-0,16%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0,29%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-0,37%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0,09%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0,05%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0,66%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14510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0,62%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0,62%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0,61%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0,05%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-0,94%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-0,48%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1,57%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11208551"/>
                  </a:ext>
                </a:extLst>
              </a:tr>
            </a:tbl>
          </a:graphicData>
        </a:graphic>
      </p:graphicFrame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FB01637-CD61-0F1C-A5F2-C599A6570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D52F2E17-486B-469A-8A18-48E5804D6F3A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476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974BE-12F2-9E4C-2F43-BE674A7E4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DDA75B-5757-2518-B4D8-92B8CFC75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Descrizione del Sistema – Tempi (Info)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AED612C-FD8F-F3A9-989A-B79DC2974EF5}"/>
              </a:ext>
            </a:extLst>
          </p:cNvPr>
          <p:cNvSpPr txBox="1"/>
          <p:nvPr/>
        </p:nvSpPr>
        <p:spPr>
          <a:xfrm>
            <a:off x="1645920" y="1903153"/>
            <a:ext cx="90068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/>
              <a:t>Tempo 1 Prova 	= </a:t>
            </a:r>
            <a:r>
              <a:rPr lang="it-IT" sz="2400" dirty="0"/>
              <a:t>153,9’ 	</a:t>
            </a:r>
            <a:r>
              <a:rPr lang="it-IT" sz="2400" dirty="0">
                <a:solidFill>
                  <a:srgbClr val="FF0000"/>
                </a:solidFill>
              </a:rPr>
              <a:t>~</a:t>
            </a:r>
            <a:r>
              <a:rPr lang="it-IT" sz="2400" dirty="0"/>
              <a:t> </a:t>
            </a:r>
            <a:r>
              <a:rPr lang="it-IT" sz="2400" b="1" dirty="0">
                <a:solidFill>
                  <a:srgbClr val="FF0000"/>
                </a:solidFill>
              </a:rPr>
              <a:t>2,5h	(9 misure)</a:t>
            </a:r>
          </a:p>
          <a:p>
            <a:endParaRPr lang="it-IT" sz="2400" b="1" dirty="0"/>
          </a:p>
          <a:p>
            <a:r>
              <a:rPr lang="it-IT" sz="2400" b="1" dirty="0"/>
              <a:t>N.ro Ripetizioni 	=</a:t>
            </a:r>
            <a:r>
              <a:rPr lang="it-IT" sz="2400" dirty="0"/>
              <a:t>  (6+1) = 7	(6 valutazione errore + 1 verifica)</a:t>
            </a:r>
            <a:endParaRPr lang="it-IT" sz="2400" b="1" dirty="0">
              <a:solidFill>
                <a:srgbClr val="FF0000"/>
              </a:solidFill>
            </a:endParaRPr>
          </a:p>
          <a:p>
            <a:endParaRPr lang="it-IT" sz="2400" b="1" dirty="0">
              <a:solidFill>
                <a:srgbClr val="FF0000"/>
              </a:solidFill>
            </a:endParaRPr>
          </a:p>
          <a:p>
            <a:r>
              <a:rPr lang="it-IT" sz="2400" b="1" dirty="0"/>
              <a:t>Tempo Totale 	= </a:t>
            </a:r>
            <a:r>
              <a:rPr lang="it-IT" sz="2400" dirty="0"/>
              <a:t>153,9’ * (6+1) = 1077’  ovvero </a:t>
            </a:r>
            <a:r>
              <a:rPr lang="it-IT" sz="2400" b="1" dirty="0">
                <a:solidFill>
                  <a:srgbClr val="FF0000"/>
                </a:solidFill>
              </a:rPr>
              <a:t>18 ore + ….  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C12C604-6E69-56B3-D642-B87EA3F45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D52F2E17-486B-469A-8A18-48E5804D6F3A}" type="slidenum">
              <a:rPr lang="it-IT" smtClean="0"/>
              <a:t>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85640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509A55-507B-9B0A-773B-E9E585053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Project Work/Dimostratore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831627D6-6B25-EDCD-EA65-DBE4AAB8D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F2E17-486B-469A-8A18-48E5804D6F3A}" type="slidenum">
              <a:rPr lang="it-IT" smtClean="0"/>
              <a:t>5</a:t>
            </a:fld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7D74295-5104-D263-6F9F-A24E00C5D04D}"/>
              </a:ext>
            </a:extLst>
          </p:cNvPr>
          <p:cNvSpPr txBox="1"/>
          <p:nvPr/>
        </p:nvSpPr>
        <p:spPr>
          <a:xfrm>
            <a:off x="838200" y="2043303"/>
            <a:ext cx="81412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dirty="0"/>
              <a:t>La misura del ∆/errore e della sua correzione è molto onerosa (2,5h per prova)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dirty="0"/>
              <a:t>Per valutare la ripetibilità occorre fare più misure su singolo dispositivo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dirty="0"/>
              <a:t>La correzione va inserita in ogni dispositivo.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dirty="0"/>
              <a:t>Una proposta per il </a:t>
            </a:r>
            <a:r>
              <a:rPr lang="it-IT" dirty="0" err="1"/>
              <a:t>Projetc</a:t>
            </a:r>
            <a:r>
              <a:rPr lang="it-IT" dirty="0"/>
              <a:t> Work sarebbe quella di addestrare una rete per «modellizzare» lo scostamento/errore del dispositivo in test rispetto al riferimento</a:t>
            </a:r>
          </a:p>
        </p:txBody>
      </p:sp>
    </p:spTree>
    <p:extLst>
      <p:ext uri="{BB962C8B-B14F-4D97-AF65-F5344CB8AC3E}">
        <p14:creationId xmlns:p14="http://schemas.microsoft.com/office/powerpoint/2010/main" val="2610430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74780F-895E-46E4-D4F3-4E5AC9084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Machine Learning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66BF61B-C42D-E1EC-0D3C-0A0A2D5D1C64}"/>
              </a:ext>
            </a:extLst>
          </p:cNvPr>
          <p:cNvSpPr txBox="1"/>
          <p:nvPr/>
        </p:nvSpPr>
        <p:spPr>
          <a:xfrm>
            <a:off x="1428192" y="1792224"/>
            <a:ext cx="933561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Quale approccio di ML usare?</a:t>
            </a:r>
          </a:p>
          <a:p>
            <a:endParaRPr lang="it-IT" dirty="0"/>
          </a:p>
          <a:p>
            <a:pPr marL="342900" indent="-342900">
              <a:buFont typeface="+mj-lt"/>
              <a:buAutoNum type="arabicParenR"/>
            </a:pPr>
            <a:r>
              <a:rPr lang="it-IT" dirty="0"/>
              <a:t>Potrei usare una Regressione per trovare una solida legge che rappresenta i dati</a:t>
            </a:r>
          </a:p>
          <a:p>
            <a:pPr marL="342900" indent="-342900">
              <a:buFont typeface="+mj-lt"/>
              <a:buAutoNum type="arabicParenR"/>
            </a:pPr>
            <a:endParaRPr lang="it-IT" dirty="0"/>
          </a:p>
          <a:p>
            <a:pPr marL="342900" indent="-342900">
              <a:buFont typeface="+mj-lt"/>
              <a:buAutoNum type="arabicParenR"/>
            </a:pPr>
            <a:r>
              <a:rPr lang="it-IT" dirty="0"/>
              <a:t>Multiple Layer </a:t>
            </a:r>
            <a:r>
              <a:rPr lang="it-IT" dirty="0" err="1"/>
              <a:t>Perceptron</a:t>
            </a:r>
            <a:endParaRPr lang="it-IT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it-IT" dirty="0"/>
              <a:t> basato su esempio del riconoscimento delle 10 cifre (</a:t>
            </a:r>
            <a:r>
              <a:rPr lang="it-IT" dirty="0">
                <a:sym typeface="Wingdings" panose="05000000000000000000" pitchFamily="2" charset="2"/>
              </a:rPr>
              <a:t> classificazione)</a:t>
            </a:r>
            <a:endParaRPr lang="it-IT" dirty="0"/>
          </a:p>
          <a:p>
            <a:endParaRPr lang="it-IT" dirty="0"/>
          </a:p>
          <a:p>
            <a:pPr marL="342900" indent="-342900">
              <a:buFont typeface="+mj-lt"/>
              <a:buAutoNum type="arabicParenR"/>
            </a:pPr>
            <a:r>
              <a:rPr lang="it-IT" dirty="0"/>
              <a:t>Potrei usare un apprendimento Non Supervisionato per trovare la migliore rappresentazione  dei dati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it-IT" dirty="0" err="1"/>
              <a:t>Autoencoders</a:t>
            </a:r>
            <a:endParaRPr lang="it-IT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it-IT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it-IT" dirty="0"/>
          </a:p>
          <a:p>
            <a:r>
              <a:rPr lang="it-IT" dirty="0"/>
              <a:t>AL MOMENTO MI SONO CONCENTRATO SUL PRIMO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2E1B7-07D7-AFA0-5204-F1DC21BC3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D52F2E17-486B-469A-8A18-48E5804D6F3A}" type="slidenum">
              <a:rPr lang="it-IT" smtClean="0"/>
              <a:t>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56106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A9FBA9-B64D-902E-131E-E7800E60B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Es. di Dati da imparare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F0BE2BB-D598-54F3-D462-DAAED83BF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F2E17-486B-469A-8A18-48E5804D6F3A}" type="slidenum">
              <a:rPr lang="it-IT" smtClean="0"/>
              <a:t>7</a:t>
            </a:fld>
            <a:endParaRPr lang="it-IT"/>
          </a:p>
        </p:txBody>
      </p:sp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6A07B964-3F87-57CA-BFB6-B12DB04220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2752266"/>
              </p:ext>
            </p:extLst>
          </p:nvPr>
        </p:nvGraphicFramePr>
        <p:xfrm>
          <a:off x="3440694" y="1994313"/>
          <a:ext cx="5310612" cy="3684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572">
                  <a:extLst>
                    <a:ext uri="{9D8B030D-6E8A-4147-A177-3AD203B41FA5}">
                      <a16:colId xmlns:a16="http://schemas.microsoft.com/office/drawing/2014/main" val="3344666190"/>
                    </a:ext>
                  </a:extLst>
                </a:gridCol>
                <a:gridCol w="978408">
                  <a:extLst>
                    <a:ext uri="{9D8B030D-6E8A-4147-A177-3AD203B41FA5}">
                      <a16:colId xmlns:a16="http://schemas.microsoft.com/office/drawing/2014/main" val="3110726661"/>
                    </a:ext>
                  </a:extLst>
                </a:gridCol>
                <a:gridCol w="1069848">
                  <a:extLst>
                    <a:ext uri="{9D8B030D-6E8A-4147-A177-3AD203B41FA5}">
                      <a16:colId xmlns:a16="http://schemas.microsoft.com/office/drawing/2014/main" val="565712884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547326180"/>
                    </a:ext>
                  </a:extLst>
                </a:gridCol>
                <a:gridCol w="574516">
                  <a:extLst>
                    <a:ext uri="{9D8B030D-6E8A-4147-A177-3AD203B41FA5}">
                      <a16:colId xmlns:a16="http://schemas.microsoft.com/office/drawing/2014/main" val="1598952346"/>
                    </a:ext>
                  </a:extLst>
                </a:gridCol>
                <a:gridCol w="1144556">
                  <a:extLst>
                    <a:ext uri="{9D8B030D-6E8A-4147-A177-3AD203B41FA5}">
                      <a16:colId xmlns:a16="http://schemas.microsoft.com/office/drawing/2014/main" val="3286388745"/>
                    </a:ext>
                  </a:extLst>
                </a:gridCol>
              </a:tblGrid>
              <a:tr h="392271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it-IT" dirty="0"/>
                        <a:t>∆ sens-1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it-IT" dirty="0"/>
                        <a:t>∆ sens-2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it-IT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it-IT" dirty="0"/>
                        <a:t>∆ </a:t>
                      </a:r>
                      <a:r>
                        <a:rPr lang="it-IT" dirty="0" err="1"/>
                        <a:t>sens</a:t>
                      </a:r>
                      <a:r>
                        <a:rPr lang="it-IT" dirty="0"/>
                        <a:t>-N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8706107"/>
                  </a:ext>
                </a:extLst>
              </a:tr>
              <a:tr h="345245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-6,978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-7,800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it-IT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-8,021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33168771"/>
                  </a:ext>
                </a:extLst>
              </a:tr>
              <a:tr h="345245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0,7*max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-5,758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-6,020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it-IT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-6,126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79499758"/>
                  </a:ext>
                </a:extLst>
              </a:tr>
              <a:tr h="345245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0,4*max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-1,809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-2,174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it-IT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-2,533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99223146"/>
                  </a:ext>
                </a:extLst>
              </a:tr>
              <a:tr h="345245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0,2*max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-0,414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-0,313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it-IT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-0,447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55603956"/>
                  </a:ext>
                </a:extLst>
              </a:tr>
              <a:tr h="345245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0,1*max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-0,186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-0,143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it-IT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-0,177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29321809"/>
                  </a:ext>
                </a:extLst>
              </a:tr>
              <a:tr h="345245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10*min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-0,055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-0,067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it-IT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-0,085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66702326"/>
                  </a:ext>
                </a:extLst>
              </a:tr>
              <a:tr h="345245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5*min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0,035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-0,014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it-IT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0,003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37315823"/>
                  </a:ext>
                </a:extLst>
              </a:tr>
              <a:tr h="345245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3*min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0,015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-0,012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it-IT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0,007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63528264"/>
                  </a:ext>
                </a:extLst>
              </a:tr>
              <a:tr h="345245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0,016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0,016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it-IT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it-I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-0,024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21969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34011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772</Words>
  <Application>Microsoft Office PowerPoint</Application>
  <PresentationFormat>Widescreen</PresentationFormat>
  <Paragraphs>268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Wingdings</vt:lpstr>
      <vt:lpstr>Tema di Office</vt:lpstr>
      <vt:lpstr>Descrizione del Sistema - Errore relativo </vt:lpstr>
      <vt:lpstr>Descrizione del Sistema – Range di misura</vt:lpstr>
      <vt:lpstr>Descrizione del Sistema – Ripetibilità (Info)</vt:lpstr>
      <vt:lpstr>Descrizione del Sistema – Tempi (Info)</vt:lpstr>
      <vt:lpstr>Project Work/Dimostratore</vt:lpstr>
      <vt:lpstr>Machine Learning</vt:lpstr>
      <vt:lpstr>Es. di Dati da imparare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Ricciardi</dc:creator>
  <cp:lastModifiedBy>Antonio Ricciardi</cp:lastModifiedBy>
  <cp:revision>10</cp:revision>
  <dcterms:created xsi:type="dcterms:W3CDTF">2026-09-26T17:55:28Z</dcterms:created>
  <dcterms:modified xsi:type="dcterms:W3CDTF">2026-10-11T17:16:09Z</dcterms:modified>
</cp:coreProperties>
</file>